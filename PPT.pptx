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SECOND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Hospital HRM — Health Record Management</a:t>
            </a:r>
          </a:p>
          <a:p>
            <a:r>
              <a:t>Blockchain-anchored medical records | Second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Stack: Node.js/Express REST API, MongoDB (Mongoose), React (Vite) SPA, JWT auth with role guards.</a:t>
            </a:r>
          </a:p>
          <a:p>
            <a:pPr algn="l">
              <a:spcAft>
                <a:spcPts val="600"/>
              </a:spcAft>
              <a:defRPr sz="1400"/>
            </a:pPr>
            <a:r>
              <a:t>Medical record integrity: SHA-256 hashing plus optional Ethereum anchoring via self-transaction calldata.</a:t>
            </a:r>
          </a:p>
          <a:p>
            <a:pPr algn="l">
              <a:spcAft>
                <a:spcPts val="600"/>
              </a:spcAft>
              <a:defRPr sz="1400"/>
            </a:pPr>
            <a:r>
              <a:t>File uploads served under /uploads; JSON body limit tuned for clinical documents and attachments.</a:t>
            </a:r>
          </a:p>
          <a:p>
            <a:pPr algn="l">
              <a:spcAft>
                <a:spcPts val="600"/>
              </a:spcAft>
              <a:defRPr sz="1400"/>
            </a:pPr>
            <a:r>
              <a:t>CORS and CLIENT_ORIGIN configured for local dev; dotenv-driven secrets (MongoDB, JWT, RPC, keys).</a:t>
            </a:r>
          </a:p>
          <a:p>
            <a:pPr algn="l">
              <a:spcAft>
                <a:spcPts val="600"/>
              </a:spcAft>
              <a:defRPr sz="1400"/>
            </a:pPr>
            <a:r>
              <a:t>Activity logging and access-control routes support audit trails and delegated patient access.</a:t>
            </a:r>
          </a:p>
          <a:p>
            <a:pPr algn="l">
              <a:spcAft>
                <a:spcPts val="600"/>
              </a:spcAft>
              <a:defRPr sz="1400"/>
            </a:pPr>
            <a:r>
              <a:t>End-to-end flow: authenticate → CRUD patients/records/vitals/prescriptions → blockchain verify where enabled.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Client: Vite + React UI, API service layer, doctor–patient helpers, block explorer utilities.</a:t>
            </a:r>
          </a:p>
          <a:p>
            <a:pPr algn="l">
              <a:spcAft>
                <a:spcPts val="600"/>
              </a:spcAft>
              <a:defRPr sz="1400"/>
            </a:pPr>
            <a:r>
              <a:t>Server core: Express app, MongoDB connection, centralized error handler, health check endpoint.</a:t>
            </a:r>
          </a:p>
          <a:p>
            <a:pPr algn="l">
              <a:spcAft>
                <a:spcPts val="600"/>
              </a:spcAft>
              <a:defRPr sz="1400"/>
            </a:pPr>
            <a:r>
              <a:t>Domain routes: auth, users, patients, emergency, records, vitals, prescriptions, reminders, appointments.</a:t>
            </a:r>
          </a:p>
          <a:p>
            <a:pPr algn="l">
              <a:spcAft>
                <a:spcPts val="600"/>
              </a:spcAft>
              <a:defRPr sz="1400"/>
            </a:pPr>
            <a:r>
              <a:t>Supporting routes: access control, blockchain metadata, uploads, structured activity logs.</a:t>
            </a:r>
          </a:p>
          <a:p>
            <a:pPr algn="l">
              <a:spcAft>
                <a:spcPts val="600"/>
              </a:spcAft>
              <a:defRPr sz="1400"/>
            </a:pPr>
            <a:r>
              <a:t>Models: User, Patient, MedicalRecord, Vital, Prescription, Appointment, MedicineReminder, AccessControl, ActivityLog, BlockChain, Counter.</a:t>
            </a:r>
          </a:p>
          <a:p>
            <a:pPr algn="l">
              <a:spcAft>
                <a:spcPts val="600"/>
              </a:spcAft>
              <a:defRPr sz="1400"/>
            </a:pPr>
            <a:r>
              <a:t>Utilities: JWT tokens, PDF/QR generation, patient ID, hash generation, Ethereum anchor, log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Auth module: registration/login, optional auth for public endpoints, role-based guards for clinicians vs admin.</a:t>
            </a:r>
          </a:p>
          <a:p>
            <a:pPr algn="l">
              <a:spcAft>
                <a:spcPts val="600"/>
              </a:spcAft>
              <a:defRPr sz="1400"/>
            </a:pPr>
            <a:r>
              <a:t>Patient module: demographics, emergency profile, linkage to records, vitals, and appointment history.</a:t>
            </a:r>
          </a:p>
          <a:p>
            <a:pPr algn="l">
              <a:spcAft>
                <a:spcPts val="600"/>
              </a:spcAft>
              <a:defRPr sz="1400"/>
            </a:pPr>
            <a:r>
              <a:t>Records &amp; vitals: structured clinical data with hashing; prescriptions and reminders for medication adherence.</a:t>
            </a:r>
          </a:p>
          <a:p>
            <a:pPr algn="l">
              <a:spcAft>
                <a:spcPts val="600"/>
              </a:spcAft>
              <a:defRPr sz="1400"/>
            </a:pPr>
            <a:r>
              <a:t>Blockchain module: stores chain metadata; anchors record hashes on-chain when RPC and wallet are configured.</a:t>
            </a:r>
          </a:p>
          <a:p>
            <a:pPr algn="l">
              <a:spcAft>
                <a:spcPts val="600"/>
              </a:spcAft>
              <a:defRPr sz="1400"/>
            </a:pPr>
            <a:r>
              <a:t>Access module: grants/revokes delegated access; logs module captures user actions for compliance review.</a:t>
            </a:r>
          </a:p>
          <a:p>
            <a:pPr algn="l">
              <a:spcAft>
                <a:spcPts val="600"/>
              </a:spcAft>
              <a:defRPr sz="1400"/>
            </a:pPr>
            <a:r>
              <a:t>Uploads &amp; PDF/QR: attachments for records; printable/ scannable artifacts where the UI integrates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4. Sample Coding / Sample Output / Sample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Sample code: ethereumAnchor.js — normalize 64-hex SHA-256, JsonRpcProvider + Wallet, sendTransaction with hash as data.</a:t>
            </a:r>
          </a:p>
          <a:p>
            <a:pPr algn="l">
              <a:spcAft>
                <a:spcPts val="600"/>
              </a:spcAft>
              <a:defRPr sz="1400"/>
            </a:pPr>
            <a:r>
              <a:t>Sample output: anchor API returns { txHash, chainId } on success; null when env not set or invalid hash.</a:t>
            </a:r>
          </a:p>
          <a:p>
            <a:pPr algn="l">
              <a:spcAft>
                <a:spcPts val="600"/>
              </a:spcAft>
              <a:defRPr sz="1400"/>
            </a:pPr>
            <a:r>
              <a:t>Sample model: MedicalRecord (and related) fields persisted in MongoDB; indexes and refs as defined in Mongoose schemas.</a:t>
            </a:r>
          </a:p>
          <a:p>
            <a:pPr algn="l">
              <a:spcAft>
                <a:spcPts val="600"/>
              </a:spcAft>
              <a:defRPr sz="1400"/>
            </a:pPr>
            <a:r>
              <a:t>Sample API: POST/GET under /api/records, /api/blockchain — JSON request/response shapes match client api.js wrappers.</a:t>
            </a:r>
          </a:p>
          <a:p>
            <a:pPr algn="l">
              <a:spcAft>
                <a:spcPts val="600"/>
              </a:spcAft>
              <a:defRPr sz="1400"/>
            </a:pPr>
            <a:r>
              <a:t>Sample hash flow: hashGenerator produces digest; chain.js / BlockChain model link blocks for tamper-evident history.</a:t>
            </a:r>
          </a:p>
          <a:p>
            <a:pPr algn="l">
              <a:spcAft>
                <a:spcPts val="600"/>
              </a:spcAft>
              <a:defRPr sz="1400"/>
            </a:pPr>
            <a:r>
              <a:t>Sample client: services/api.js centralizes fetch with credentials for authenticated dashboards and forms.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5. Sample Screen 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Login / registration and role-appropriate dashboard after successful JWT session.</a:t>
            </a:r>
          </a:p>
          <a:p>
            <a:pPr algn="l">
              <a:spcAft>
                <a:spcPts val="600"/>
              </a:spcAft>
              <a:defRPr sz="1400"/>
            </a:pPr>
            <a:r>
              <a:t>Patient list or profile view showing demographics and emergency information.</a:t>
            </a:r>
          </a:p>
          <a:p>
            <a:pPr algn="l">
              <a:spcAft>
                <a:spcPts val="600"/>
              </a:spcAft>
              <a:defRPr sz="1400"/>
            </a:pPr>
            <a:r>
              <a:t>Medical record create/view screen with attachments or hash display where implemented.</a:t>
            </a:r>
          </a:p>
          <a:p>
            <a:pPr algn="l">
              <a:spcAft>
                <a:spcPts val="600"/>
              </a:spcAft>
              <a:defRPr sz="1400"/>
            </a:pPr>
            <a:r>
              <a:t>Vitals or prescriptions UI demonstrating data entry and saved state confirmation.</a:t>
            </a:r>
          </a:p>
          <a:p>
            <a:pPr algn="l">
              <a:spcAft>
                <a:spcPts val="600"/>
              </a:spcAft>
              <a:defRPr sz="1400"/>
            </a:pPr>
            <a:r>
              <a:t>Blockchain or verification screen (explorer link / tx hash) after anchoring a record.</a:t>
            </a:r>
          </a:p>
          <a:p>
            <a:pPr algn="l">
              <a:spcAft>
                <a:spcPts val="600"/>
              </a:spcAft>
              <a:defRPr sz="1400"/>
            </a:pPr>
            <a:r>
              <a:t>Access control or activity log view illustrating audit visibility for reviewers.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6. Rough Copy of Full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Chapter 1: Introduction — problem statement, objectives, scope of Hospital HRM.</a:t>
            </a:r>
          </a:p>
          <a:p>
            <a:pPr algn="l">
              <a:spcAft>
                <a:spcPts val="600"/>
              </a:spcAft>
              <a:defRPr sz="1400"/>
            </a:pPr>
            <a:r>
              <a:t>Chapter 2: Literature / related work — EHR standards, security, blockchain in healthcare (summary).</a:t>
            </a:r>
          </a:p>
          <a:p>
            <a:pPr algn="l">
              <a:spcAft>
                <a:spcPts val="600"/>
              </a:spcAft>
              <a:defRPr sz="1400"/>
            </a:pPr>
            <a:r>
              <a:t>Chapter 3: Requirements — functional (users, patients, records) and non-functional (security, performance).</a:t>
            </a:r>
          </a:p>
          <a:p>
            <a:pPr algn="l">
              <a:spcAft>
                <a:spcPts val="600"/>
              </a:spcAft>
              <a:defRPr sz="1400"/>
            </a:pPr>
            <a:r>
              <a:t>Chapter 4: System design — architecture diagram, module diagram, database ER-style collection overview.</a:t>
            </a:r>
          </a:p>
          <a:p>
            <a:pPr algn="l">
              <a:spcAft>
                <a:spcPts val="600"/>
              </a:spcAft>
              <a:defRPr sz="1400"/>
            </a:pPr>
            <a:r>
              <a:t>Chapter 5: Implementation — environment setup, key algorithms (hashing, anchoring), API catalogue.</a:t>
            </a:r>
          </a:p>
          <a:p>
            <a:pPr algn="l">
              <a:spcAft>
                <a:spcPts val="600"/>
              </a:spcAft>
              <a:defRPr sz="1400"/>
            </a:pPr>
            <a:r>
              <a:t>Chapter 6: Testing, results, conclusion, future work — align narrative with screenshots and demo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7. Complete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Slide deck covers all eight review items within the prescribed slide limit (title + eight content slides).</a:t>
            </a:r>
          </a:p>
          <a:p>
            <a:pPr algn="l">
              <a:spcAft>
                <a:spcPts val="600"/>
              </a:spcAft>
              <a:defRPr sz="1400"/>
            </a:pPr>
            <a:r>
              <a:t>Consistent fonts and hierarchy: title, bullets, optional speaker notes in your rehearsal copy.</a:t>
            </a:r>
          </a:p>
          <a:p>
            <a:pPr algn="l">
              <a:spcAft>
                <a:spcPts val="600"/>
              </a:spcAft>
              <a:defRPr sz="1400"/>
            </a:pPr>
            <a:r>
              <a:t>Figures numbered to match the report; reference appendix for long code listings.</a:t>
            </a:r>
          </a:p>
          <a:p>
            <a:pPr algn="l">
              <a:spcAft>
                <a:spcPts val="600"/>
              </a:spcAft>
              <a:defRPr sz="1400"/>
            </a:pPr>
            <a:r>
              <a:t>Transition from architecture → modules → live demo to satisfy examiner flow.</a:t>
            </a:r>
          </a:p>
          <a:p>
            <a:pPr algn="l">
              <a:spcAft>
                <a:spcPts val="600"/>
              </a:spcAft>
              <a:defRPr sz="1400"/>
            </a:pPr>
            <a:r>
              <a:t>Backup PDF export prepared in case of projector or font substitution issues.</a:t>
            </a:r>
          </a:p>
          <a:p>
            <a:pPr algn="l">
              <a:spcAft>
                <a:spcPts val="600"/>
              </a:spcAft>
              <a:defRPr sz="1400"/>
            </a:pPr>
            <a:r>
              <a:t>Q&amp;A slide or closing slide with project title, team names, and repository / deployment pointer.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8. Full 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600"/>
              </a:spcAft>
              <a:defRPr sz="1400"/>
            </a:pPr>
            <a:r>
              <a:t>Start stack: MongoDB running, npm run dev (server + client), verify /api/health returns { ok: true }.</a:t>
            </a:r>
          </a:p>
          <a:p>
            <a:pPr algn="l">
              <a:spcAft>
                <a:spcPts val="600"/>
              </a:spcAft>
              <a:defRPr sz="1400"/>
            </a:pPr>
            <a:r>
              <a:t>Demo path 1: register/login as clinician → create or open patient → add record / vital / prescription.</a:t>
            </a:r>
          </a:p>
          <a:p>
            <a:pPr algn="l">
              <a:spcAft>
                <a:spcPts val="600"/>
              </a:spcAft>
              <a:defRPr sz="1400"/>
            </a:pPr>
            <a:r>
              <a:t>Demo path 2: show record hash and optional Ethereum anchor (testnet) with transaction hash evidence.</a:t>
            </a:r>
          </a:p>
          <a:p>
            <a:pPr algn="l">
              <a:spcAft>
                <a:spcPts val="600"/>
              </a:spcAft>
              <a:defRPr sz="1400"/>
            </a:pPr>
            <a:r>
              <a:t>Demo path 3: delegated access grant/revoke and a sample entry in activity logs.</a:t>
            </a:r>
          </a:p>
          <a:p>
            <a:pPr algn="l">
              <a:spcAft>
                <a:spcPts val="600"/>
              </a:spcAft>
              <a:defRPr sz="1400"/>
            </a:pPr>
            <a:r>
              <a:t>Demo path 4: appointment or reminder workflow relevant to your configured UI pages.</a:t>
            </a:r>
          </a:p>
          <a:p>
            <a:pPr algn="l">
              <a:spcAft>
                <a:spcPts val="600"/>
              </a:spcAft>
              <a:defRPr sz="1400"/>
            </a:pPr>
            <a:r>
              <a:t>Close with limitations (e.g., testnet only), security notes, and planned enhancements.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